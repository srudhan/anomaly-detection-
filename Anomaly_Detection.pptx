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3"/>
  </p:notesMasterIdLst>
  <p:handoutMasterIdLst>
    <p:handoutMasterId r:id="rId24"/>
  </p:handoutMasterIdLst>
  <p:sldIdLst>
    <p:sldId id="410" r:id="rId5"/>
    <p:sldId id="422" r:id="rId6"/>
    <p:sldId id="443" r:id="rId7"/>
    <p:sldId id="426" r:id="rId8"/>
    <p:sldId id="430" r:id="rId9"/>
    <p:sldId id="427" r:id="rId10"/>
    <p:sldId id="429" r:id="rId11"/>
    <p:sldId id="442" r:id="rId12"/>
    <p:sldId id="444" r:id="rId13"/>
    <p:sldId id="445" r:id="rId14"/>
    <p:sldId id="446" r:id="rId15"/>
    <p:sldId id="436" r:id="rId16"/>
    <p:sldId id="447" r:id="rId17"/>
    <p:sldId id="448" r:id="rId18"/>
    <p:sldId id="449" r:id="rId19"/>
    <p:sldId id="437" r:id="rId20"/>
    <p:sldId id="438" r:id="rId21"/>
    <p:sldId id="39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07" autoAdjust="0"/>
    <p:restoredTop sz="95917" autoAdjust="0"/>
  </p:normalViewPr>
  <p:slideViewPr>
    <p:cSldViewPr snapToGrid="0">
      <p:cViewPr varScale="1">
        <p:scale>
          <a:sx n="84" d="100"/>
          <a:sy n="84" d="100"/>
        </p:scale>
        <p:origin x="216" y="10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2/24/26</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2/24/26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18</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1517836" y="1531072"/>
            <a:ext cx="10313192" cy="2230119"/>
          </a:xfrm>
        </p:spPr>
        <p:txBody>
          <a:bodyPr/>
          <a:lstStyle/>
          <a:p>
            <a:pPr algn="ctr"/>
            <a:br>
              <a:rPr lang="en-IN" sz="3000" dirty="0">
                <a:latin typeface="Times New Roman" panose="02020603050405020304" pitchFamily="18" charset="0"/>
                <a:cs typeface="Times New Roman" panose="02020603050405020304" pitchFamily="18" charset="0"/>
              </a:rPr>
            </a:br>
            <a:br>
              <a:rPr lang="en-IN" sz="3000" dirty="0">
                <a:latin typeface="Times New Roman" panose="02020603050405020304" pitchFamily="18" charset="0"/>
                <a:cs typeface="Times New Roman" panose="02020603050405020304" pitchFamily="18" charset="0"/>
              </a:rPr>
            </a:br>
            <a:br>
              <a:rPr lang="en-IN" sz="3000" dirty="0">
                <a:latin typeface="Times New Roman" panose="02020603050405020304" pitchFamily="18" charset="0"/>
                <a:cs typeface="Times New Roman" panose="02020603050405020304" pitchFamily="18" charset="0"/>
              </a:rPr>
            </a:br>
            <a:br>
              <a:rPr lang="en-IN" sz="3000" dirty="0">
                <a:latin typeface="Times New Roman" panose="02020603050405020304" pitchFamily="18" charset="0"/>
                <a:cs typeface="Times New Roman" panose="02020603050405020304" pitchFamily="18" charset="0"/>
              </a:rPr>
            </a:br>
            <a:br>
              <a:rPr lang="en-IN" sz="3000" dirty="0">
                <a:latin typeface="Times New Roman" panose="02020603050405020304" pitchFamily="18" charset="0"/>
                <a:cs typeface="Times New Roman" panose="02020603050405020304" pitchFamily="18" charset="0"/>
              </a:rPr>
            </a:br>
            <a:br>
              <a:rPr lang="en-IN" sz="3000" dirty="0">
                <a:latin typeface="Times New Roman" panose="02020603050405020304" pitchFamily="18" charset="0"/>
                <a:cs typeface="Times New Roman" panose="02020603050405020304" pitchFamily="18" charset="0"/>
              </a:rPr>
            </a:br>
            <a:br>
              <a:rPr lang="en-IN" sz="3000" dirty="0">
                <a:latin typeface="Times New Roman" panose="02020603050405020304" pitchFamily="18" charset="0"/>
                <a:cs typeface="Times New Roman" panose="02020603050405020304" pitchFamily="18" charset="0"/>
              </a:rPr>
            </a:br>
            <a:br>
              <a:rPr lang="en-IN" sz="3000" dirty="0">
                <a:latin typeface="Times New Roman" panose="02020603050405020304" pitchFamily="18" charset="0"/>
                <a:cs typeface="Times New Roman" panose="02020603050405020304" pitchFamily="18" charset="0"/>
              </a:rPr>
            </a:br>
            <a:br>
              <a:rPr lang="en-IN" sz="3000" dirty="0">
                <a:latin typeface="Times New Roman" panose="02020603050405020304" pitchFamily="18" charset="0"/>
                <a:cs typeface="Times New Roman" panose="02020603050405020304" pitchFamily="18" charset="0"/>
              </a:rPr>
            </a:br>
            <a:br>
              <a:rPr lang="en-IN" sz="30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REAL-TIME FINANCIAL ANOMALY DETECTION USING MACHINE LEARNING AND STREAMING ANALYTICS</a:t>
            </a:r>
            <a:br>
              <a:rPr lang="en-IN" sz="3200" dirty="0"/>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solidFill>
                  <a:schemeClr val="tx1">
                    <a:lumMod val="50000"/>
                  </a:schemeClr>
                </a:solidFill>
                <a:latin typeface="Times New Roman" panose="02020603050405020304" pitchFamily="18" charset="0"/>
                <a:ea typeface="Calibri" panose="020F0502020204030204" pitchFamily="34" charset="0"/>
                <a:cs typeface="Times New Roman" panose="02020603050405020304" pitchFamily="18" charset="0"/>
              </a:rPr>
              <a:t>Srudhan Eerla</a:t>
            </a:r>
            <a:br>
              <a:rPr lang="en-IN" sz="2400" kern="1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400" kern="1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24MCB1002</a:t>
            </a:r>
            <a:endParaRPr lang="en-US" sz="2000" dirty="0">
              <a:solidFill>
                <a:schemeClr val="tx1">
                  <a:lumMod val="50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5D333E8-8943-F73A-A57D-C79C5FFBCA0C}"/>
              </a:ext>
            </a:extLst>
          </p:cNvPr>
          <p:cNvSpPr txBox="1"/>
          <p:nvPr/>
        </p:nvSpPr>
        <p:spPr>
          <a:xfrm>
            <a:off x="7209373" y="4564989"/>
            <a:ext cx="4621655" cy="402482"/>
          </a:xfrm>
          <a:prstGeom prst="rect">
            <a:avLst/>
          </a:prstGeom>
          <a:noFill/>
        </p:spPr>
        <p:txBody>
          <a:bodyPr wrap="square">
            <a:spAutoFit/>
          </a:bodyPr>
          <a:lstStyle/>
          <a:p>
            <a:pPr marL="0" lvl="0" indent="0" algn="ctr">
              <a:lnSpc>
                <a:spcPts val="2595"/>
              </a:lnSpc>
            </a:pPr>
            <a:r>
              <a:rPr lang="en-US" sz="2000" b="1" dirty="0">
                <a:solidFill>
                  <a:schemeClr val="accent1">
                    <a:lumMod val="50000"/>
                  </a:schemeClr>
                </a:solidFill>
                <a:latin typeface="Times New Roman" panose="02020603050405020304" pitchFamily="18" charset="0"/>
                <a:cs typeface="Times New Roman" panose="02020603050405020304" pitchFamily="18" charset="0"/>
              </a:rPr>
              <a:t>Guide: Dr. S . Deepa Nivethika</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B3287-DC3E-D2D7-2A4A-7C88899EE076}"/>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INTRODUCTION</a:t>
            </a:r>
            <a:endParaRPr lang="en-IN" sz="35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D599C7-CC12-C9BD-B010-52EC5B4C569E}"/>
              </a:ext>
            </a:extLst>
          </p:cNvPr>
          <p:cNvSpPr>
            <a:spLocks noGrp="1"/>
          </p:cNvSpPr>
          <p:nvPr>
            <p:ph sz="quarter" idx="13"/>
          </p:nvPr>
        </p:nvSpPr>
        <p:spPr>
          <a:xfrm>
            <a:off x="2511706" y="2511707"/>
            <a:ext cx="9048991" cy="3426106"/>
          </a:xfrm>
        </p:spPr>
        <p:txBody>
          <a:bodyPr>
            <a:normAutofit/>
          </a:bodyPr>
          <a:lstStyle/>
          <a:p>
            <a:pPr marL="0" indent="0" algn="just">
              <a:buNone/>
            </a:pPr>
            <a:r>
              <a:rPr lang="en-US" sz="2200" dirty="0">
                <a:latin typeface="Times New Roman" panose="02020603050405020304" pitchFamily="18" charset="0"/>
                <a:cs typeface="Times New Roman" panose="02020603050405020304" pitchFamily="18" charset="0"/>
              </a:rPr>
              <a:t>With the rapid growth of digital banking and online payments, financial transactions are generated continuously and at a very high speed. Along with this growth, fraudulent and abnormal activities are also increasing, making traditional detection methods less effective. Most existing systems rely on fixed rules and batch processing, which often detect suspicious transactions only after a delay. To overcome these limitations, machine learning can be used to learn normal transaction behavior and identify unusual patterns automatically. This project focuses on developing a real-time financial anomaly detection system that analyzes streaming transaction data and provides timely insights through a live dashboard.</a:t>
            </a:r>
          </a:p>
          <a:p>
            <a:pPr algn="just"/>
            <a:endParaRPr lang="en-IN" dirty="0"/>
          </a:p>
        </p:txBody>
      </p:sp>
    </p:spTree>
    <p:extLst>
      <p:ext uri="{BB962C8B-B14F-4D97-AF65-F5344CB8AC3E}">
        <p14:creationId xmlns:p14="http://schemas.microsoft.com/office/powerpoint/2010/main" val="3223238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3001E-F7E5-E538-C9C4-E37D8F953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55862-D55A-902C-94F2-54EE05907849}"/>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PROBLEM STATEMENT</a:t>
            </a:r>
            <a:endParaRPr lang="en-IN" sz="35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D8F3B2-C482-4A87-A47A-A83BA883EDF5}"/>
              </a:ext>
            </a:extLst>
          </p:cNvPr>
          <p:cNvSpPr>
            <a:spLocks noGrp="1"/>
          </p:cNvSpPr>
          <p:nvPr>
            <p:ph sz="quarter" idx="13"/>
          </p:nvPr>
        </p:nvSpPr>
        <p:spPr>
          <a:xfrm>
            <a:off x="2314937" y="2511707"/>
            <a:ext cx="9153163" cy="3669174"/>
          </a:xfrm>
        </p:spPr>
        <p:txBody>
          <a:bodyPr>
            <a:normAutofit/>
          </a:bodyPr>
          <a:lstStyle/>
          <a:p>
            <a:pPr marL="0" indent="0" algn="just">
              <a:buNone/>
            </a:pPr>
            <a:r>
              <a:rPr lang="en-IN" sz="2200" dirty="0">
                <a:latin typeface="Times New Roman" panose="02020603050405020304" pitchFamily="18" charset="0"/>
                <a:cs typeface="Times New Roman" panose="02020603050405020304" pitchFamily="18" charset="0"/>
              </a:rPr>
              <a:t>Financial institutions handle a large number of transactions every second, making it difficult to monitor and identify abnormal activities in a timely manner. Most existing fraud detection systems rely on predefined rules and batch-based analysis, which often detect suspicious transactions only after a delay. Such delayed detection can lead to financial losses and increased security risks. Additionally, fixed rules are not flexible enough to adapt to changing fraud patterns. Therefore, there is a need for a real-time system that can continuously </a:t>
            </a: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financial transactions and automatically identify anomalies using machine learning techniques.</a:t>
            </a:r>
          </a:p>
        </p:txBody>
      </p:sp>
    </p:spTree>
    <p:extLst>
      <p:ext uri="{BB962C8B-B14F-4D97-AF65-F5344CB8AC3E}">
        <p14:creationId xmlns:p14="http://schemas.microsoft.com/office/powerpoint/2010/main" val="3964219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82F20-280F-5403-630F-29EC54366A4F}"/>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RESEARCH OBJECTIVES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10D20AA8-F448-2288-C822-209A96787F61}"/>
              </a:ext>
            </a:extLst>
          </p:cNvPr>
          <p:cNvSpPr>
            <a:spLocks noGrp="1"/>
          </p:cNvSpPr>
          <p:nvPr>
            <p:ph sz="quarter" idx="13"/>
          </p:nvPr>
        </p:nvSpPr>
        <p:spPr>
          <a:xfrm>
            <a:off x="960278" y="2447925"/>
            <a:ext cx="10880623" cy="3825553"/>
          </a:xfrm>
        </p:spPr>
        <p:txBody>
          <a:bodyPr>
            <a:normAutofit fontScale="92500"/>
          </a:bodyPr>
          <a:lstStyle/>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build a system that can identify unusual financial transactions as they occur</a:t>
            </a:r>
          </a:p>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study financial transaction data in a continuous, real-time environment</a:t>
            </a:r>
          </a:p>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use machine learning methods to learn normal transaction behaviour and detect anomalies</a:t>
            </a:r>
          </a:p>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assign a risk or anomaly score to each transaction</a:t>
            </a:r>
          </a:p>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store detected anomalies for further analysis and review</a:t>
            </a:r>
          </a:p>
          <a:p>
            <a:pPr marL="34290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present the results through a live dashboard for easy monitoring</a:t>
            </a:r>
          </a:p>
        </p:txBody>
      </p:sp>
    </p:spTree>
    <p:extLst>
      <p:ext uri="{BB962C8B-B14F-4D97-AF65-F5344CB8AC3E}">
        <p14:creationId xmlns:p14="http://schemas.microsoft.com/office/powerpoint/2010/main" val="2611945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E4DD4-15E2-44B1-C6A3-BD7E428FA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EAF78-BBD8-E81E-16AC-60E1300C7662}"/>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PROPOSED SYSTEM</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BFAF3122-B5C1-8B97-D3B1-8376CA617E05}"/>
              </a:ext>
            </a:extLst>
          </p:cNvPr>
          <p:cNvSpPr>
            <a:spLocks noGrp="1"/>
          </p:cNvSpPr>
          <p:nvPr>
            <p:ph sz="quarter" idx="13"/>
          </p:nvPr>
        </p:nvSpPr>
        <p:spPr>
          <a:xfrm>
            <a:off x="594360" y="2346593"/>
            <a:ext cx="10783554" cy="4042633"/>
          </a:xfrm>
        </p:spPr>
        <p:txBody>
          <a:bodyPr>
            <a:noAutofit/>
          </a:bodyPr>
          <a:lstStyle/>
          <a:p>
            <a:pPr algn="just">
              <a:lnSpc>
                <a:spcPct val="100000"/>
              </a:lnSpc>
              <a:spcBef>
                <a:spcPts val="600"/>
              </a:spcBef>
            </a:pPr>
            <a:r>
              <a:rPr lang="en-US" sz="2200" dirty="0">
                <a:latin typeface="Times New Roman" panose="02020603050405020304" pitchFamily="18" charset="0"/>
                <a:cs typeface="Times New Roman" panose="02020603050405020304" pitchFamily="18" charset="0"/>
              </a:rPr>
              <a:t>The proposed system is a real-time financial anomaly detection framework that continuously monitors transaction streams and identifies unusual behavior using unsupervised machine learning.</a:t>
            </a:r>
          </a:p>
          <a:p>
            <a:pPr algn="just">
              <a:lnSpc>
                <a:spcPct val="100000"/>
              </a:lnSpc>
              <a:spcBef>
                <a:spcPts val="600"/>
              </a:spcBef>
            </a:pPr>
            <a:endParaRPr lang="en-US" sz="2200"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US" sz="2200" dirty="0">
                <a:latin typeface="Times New Roman" panose="02020603050405020304" pitchFamily="18" charset="0"/>
                <a:cs typeface="Times New Roman" panose="02020603050405020304" pitchFamily="18" charset="0"/>
              </a:rPr>
              <a:t>Unlike traditional batch-based systems, this system:</a:t>
            </a:r>
          </a:p>
          <a:p>
            <a:pPr marL="1028700" lvl="1" indent="-342900" algn="just">
              <a:lnSpc>
                <a:spcPct val="200000"/>
              </a:lnSpc>
            </a:pPr>
            <a:r>
              <a:rPr lang="en-US" sz="2200" dirty="0">
                <a:latin typeface="Times New Roman" panose="02020603050405020304" pitchFamily="18" charset="0"/>
                <a:cs typeface="Times New Roman" panose="02020603050405020304" pitchFamily="18" charset="0"/>
              </a:rPr>
              <a:t>Detects anomalies as transactions occur</a:t>
            </a:r>
          </a:p>
          <a:p>
            <a:pPr marL="1028700" lvl="1" indent="-342900" algn="just">
              <a:lnSpc>
                <a:spcPct val="200000"/>
              </a:lnSpc>
            </a:pPr>
            <a:r>
              <a:rPr lang="en-US" sz="2200" dirty="0">
                <a:latin typeface="Times New Roman" panose="02020603050405020304" pitchFamily="18" charset="0"/>
                <a:cs typeface="Times New Roman" panose="02020603050405020304" pitchFamily="18" charset="0"/>
              </a:rPr>
              <a:t>Does not depend on predefined fraud rules</a:t>
            </a:r>
          </a:p>
          <a:p>
            <a:pPr marL="1028700" lvl="1" indent="-342900" algn="just">
              <a:lnSpc>
                <a:spcPct val="200000"/>
              </a:lnSpc>
            </a:pPr>
            <a:r>
              <a:rPr lang="en-US" sz="2200" dirty="0">
                <a:latin typeface="Times New Roman" panose="02020603050405020304" pitchFamily="18" charset="0"/>
                <a:cs typeface="Times New Roman" panose="02020603050405020304" pitchFamily="18" charset="0"/>
              </a:rPr>
              <a:t>Adapts to changing transaction patterns</a:t>
            </a:r>
          </a:p>
        </p:txBody>
      </p:sp>
    </p:spTree>
    <p:extLst>
      <p:ext uri="{BB962C8B-B14F-4D97-AF65-F5344CB8AC3E}">
        <p14:creationId xmlns:p14="http://schemas.microsoft.com/office/powerpoint/2010/main" val="503229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D16E6-632B-C782-BA31-008D2FB17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81BB2-8542-A918-E600-8A7CE8EDD411}"/>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PROPOSED SYSTEM DIAGRAM</a:t>
            </a:r>
            <a:endParaRPr lang="en-IN" sz="35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019E6353-B040-67CA-FCA6-38564D109401}"/>
              </a:ext>
            </a:extLst>
          </p:cNvPr>
          <p:cNvPicPr>
            <a:picLocks noGrp="1" noChangeAspect="1"/>
          </p:cNvPicPr>
          <p:nvPr>
            <p:ph sz="quarter" idx="13"/>
          </p:nvPr>
        </p:nvPicPr>
        <p:blipFill>
          <a:blip r:embed="rId2"/>
          <a:stretch>
            <a:fillRect/>
          </a:stretch>
        </p:blipFill>
        <p:spPr>
          <a:xfrm>
            <a:off x="2870151" y="2227459"/>
            <a:ext cx="6502450" cy="3905799"/>
          </a:xfrm>
          <a:prstGeom prst="rect">
            <a:avLst/>
          </a:prstGeom>
        </p:spPr>
      </p:pic>
      <p:sp>
        <p:nvSpPr>
          <p:cNvPr id="7" name="TextBox 6">
            <a:extLst>
              <a:ext uri="{FF2B5EF4-FFF2-40B4-BE49-F238E27FC236}">
                <a16:creationId xmlns:a16="http://schemas.microsoft.com/office/drawing/2014/main" id="{F9BB7AF5-05FB-F277-7E28-9212FA1C3682}"/>
              </a:ext>
            </a:extLst>
          </p:cNvPr>
          <p:cNvSpPr txBox="1"/>
          <p:nvPr/>
        </p:nvSpPr>
        <p:spPr>
          <a:xfrm>
            <a:off x="2037659" y="6074817"/>
            <a:ext cx="8505483" cy="584775"/>
          </a:xfrm>
          <a:prstGeom prst="rect">
            <a:avLst/>
          </a:prstGeom>
          <a:noFill/>
        </p:spPr>
        <p:txBody>
          <a:bodyPr wrap="square" rtlCol="0">
            <a:spAutoFit/>
          </a:bodyPr>
          <a:lstStyle/>
          <a:p>
            <a:pPr algn="ctr"/>
            <a:r>
              <a:rPr lang="en-IN" sz="1600" i="1" dirty="0">
                <a:solidFill>
                  <a:schemeClr val="bg1"/>
                </a:solidFill>
                <a:latin typeface="Times New Roman" panose="02020603050405020304" pitchFamily="18" charset="0"/>
                <a:cs typeface="Times New Roman" panose="02020603050405020304" pitchFamily="18" charset="0"/>
              </a:rPr>
              <a:t>The architecture shows an end-to-end pipeline where transaction data flows through preprocessing, anomaly detection, storage, and visualization layers</a:t>
            </a:r>
          </a:p>
        </p:txBody>
      </p:sp>
    </p:spTree>
    <p:extLst>
      <p:ext uri="{BB962C8B-B14F-4D97-AF65-F5344CB8AC3E}">
        <p14:creationId xmlns:p14="http://schemas.microsoft.com/office/powerpoint/2010/main" val="2552698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9B393-42CD-A062-8561-6B841229A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D386F-C07A-BC12-3F92-F2F641661144}"/>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MODULES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8BB287A2-C776-25FE-7AC1-E01F4B963301}"/>
              </a:ext>
            </a:extLst>
          </p:cNvPr>
          <p:cNvSpPr>
            <a:spLocks noGrp="1"/>
          </p:cNvSpPr>
          <p:nvPr>
            <p:ph sz="quarter" idx="13"/>
          </p:nvPr>
        </p:nvSpPr>
        <p:spPr>
          <a:xfrm>
            <a:off x="749147" y="2335577"/>
            <a:ext cx="10467334" cy="4324016"/>
          </a:xfrm>
        </p:spPr>
        <p:txBody>
          <a:bodyPr>
            <a:noAutofit/>
          </a:bodyPr>
          <a:lstStyle/>
          <a:p>
            <a:pPr algn="just">
              <a:lnSpc>
                <a:spcPct val="100000"/>
              </a:lnSpc>
              <a:spcBef>
                <a:spcPts val="600"/>
              </a:spcBef>
            </a:pPr>
            <a:r>
              <a:rPr lang="en-IN" b="1" dirty="0">
                <a:latin typeface="Times New Roman" panose="02020603050405020304" pitchFamily="18" charset="0"/>
                <a:cs typeface="Times New Roman" panose="02020603050405020304" pitchFamily="18" charset="0"/>
              </a:rPr>
              <a:t>Data Ingestion Module:</a:t>
            </a:r>
            <a:endParaRPr lang="en-IN" dirty="0">
              <a:latin typeface="Times New Roman" panose="02020603050405020304" pitchFamily="18" charset="0"/>
              <a:cs typeface="Times New Roman" panose="02020603050405020304" pitchFamily="18" charset="0"/>
            </a:endParaRPr>
          </a:p>
          <a:p>
            <a:pPr marL="342900" indent="-342900" algn="just">
              <a:lnSpc>
                <a:spcPct val="100000"/>
              </a:lnSpc>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Responsible for loading transaction data from CSV</a:t>
            </a:r>
          </a:p>
          <a:p>
            <a:pPr marL="342900" indent="-342900" algn="just">
              <a:lnSpc>
                <a:spcPct val="100000"/>
              </a:lnSpc>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Acts as the source of transaction streams</a:t>
            </a:r>
          </a:p>
          <a:p>
            <a:pPr marL="342900" indent="-342900" algn="just">
              <a:lnSpc>
                <a:spcPct val="100000"/>
              </a:lnSpc>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structured input to the preprocessing pipeline</a:t>
            </a:r>
          </a:p>
          <a:p>
            <a:pPr algn="just">
              <a:lnSpc>
                <a:spcPct val="100000"/>
              </a:lnSpc>
              <a:spcBef>
                <a:spcPts val="600"/>
              </a:spcBef>
            </a:pPr>
            <a:endParaRPr lang="en-IN"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IN" b="1" dirty="0">
                <a:latin typeface="Times New Roman" panose="02020603050405020304" pitchFamily="18" charset="0"/>
                <a:cs typeface="Times New Roman" panose="02020603050405020304" pitchFamily="18" charset="0"/>
              </a:rPr>
              <a:t>Data Preprocessing Module:</a:t>
            </a:r>
            <a:endParaRPr lang="en-IN" dirty="0">
              <a:latin typeface="Times New Roman" panose="02020603050405020304" pitchFamily="18" charset="0"/>
              <a:cs typeface="Times New Roman" panose="02020603050405020304" pitchFamily="18" charset="0"/>
            </a:endParaRPr>
          </a:p>
          <a:p>
            <a:pPr marL="342900" indent="-342900" algn="just">
              <a:lnSpc>
                <a:spcPct val="100000"/>
              </a:lnSpc>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Removal of duplicate records</a:t>
            </a:r>
          </a:p>
          <a:p>
            <a:pPr marL="342900" indent="-342900" algn="just">
              <a:lnSpc>
                <a:spcPct val="100000"/>
              </a:lnSpc>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Handling missing values:</a:t>
            </a:r>
          </a:p>
          <a:p>
            <a:pPr marL="1028700" lvl="1" indent="-342900" algn="just">
              <a:lnSpc>
                <a:spcPct val="100000"/>
              </a:lnSpc>
            </a:pPr>
            <a:r>
              <a:rPr lang="en-IN" dirty="0">
                <a:latin typeface="Times New Roman" panose="02020603050405020304" pitchFamily="18" charset="0"/>
                <a:cs typeface="Times New Roman" panose="02020603050405020304" pitchFamily="18" charset="0"/>
              </a:rPr>
              <a:t>Categorical → "UNKNOWN"</a:t>
            </a:r>
          </a:p>
          <a:p>
            <a:pPr marL="1028700" lvl="1" indent="-342900" algn="just">
              <a:lnSpc>
                <a:spcPct val="100000"/>
              </a:lnSpc>
            </a:pPr>
            <a:r>
              <a:rPr lang="en-IN" dirty="0">
                <a:latin typeface="Times New Roman" panose="02020603050405020304" pitchFamily="18" charset="0"/>
                <a:cs typeface="Times New Roman" panose="02020603050405020304" pitchFamily="18" charset="0"/>
              </a:rPr>
              <a:t>Numerical → Median value</a:t>
            </a:r>
          </a:p>
          <a:p>
            <a:pPr marL="342900" indent="-342900" algn="just">
              <a:lnSpc>
                <a:spcPct val="100000"/>
              </a:lnSpc>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Ensures data consistency and quality</a:t>
            </a:r>
          </a:p>
        </p:txBody>
      </p:sp>
    </p:spTree>
    <p:extLst>
      <p:ext uri="{BB962C8B-B14F-4D97-AF65-F5344CB8AC3E}">
        <p14:creationId xmlns:p14="http://schemas.microsoft.com/office/powerpoint/2010/main" val="1593395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CBD52-50BE-5F9E-24B1-76C1514E5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3A607-EA4E-ECEB-F954-ACDF5F2C9AE1}"/>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MODULES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BF1BDBF1-972D-4CFF-16BD-73D81CB4C33D}"/>
              </a:ext>
            </a:extLst>
          </p:cNvPr>
          <p:cNvSpPr>
            <a:spLocks noGrp="1"/>
          </p:cNvSpPr>
          <p:nvPr>
            <p:ph sz="quarter" idx="13"/>
          </p:nvPr>
        </p:nvSpPr>
        <p:spPr>
          <a:xfrm>
            <a:off x="975519" y="2468881"/>
            <a:ext cx="10182476" cy="4190711"/>
          </a:xfrm>
        </p:spPr>
        <p:txBody>
          <a:bodyPr>
            <a:noAutofit/>
          </a:bodyPr>
          <a:lstStyle/>
          <a:p>
            <a:pPr algn="just">
              <a:lnSpc>
                <a:spcPct val="100000"/>
              </a:lnSpc>
              <a:spcBef>
                <a:spcPts val="600"/>
              </a:spcBef>
            </a:pPr>
            <a:r>
              <a:rPr lang="en-IN" b="1" dirty="0">
                <a:latin typeface="Times New Roman" panose="02020603050405020304" pitchFamily="18" charset="0"/>
                <a:cs typeface="Times New Roman" panose="02020603050405020304" pitchFamily="18" charset="0"/>
              </a:rPr>
              <a:t>Feature Encoding &amp; Scaling Module:</a:t>
            </a:r>
          </a:p>
          <a:p>
            <a:pPr algn="just">
              <a:lnSpc>
                <a:spcPct val="100000"/>
              </a:lnSpc>
              <a:spcBef>
                <a:spcPts val="600"/>
              </a:spcBef>
            </a:pPr>
            <a:r>
              <a:rPr lang="en-IN" sz="2200" b="1"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Feature Encoding:</a:t>
            </a:r>
            <a:endParaRPr lang="en-IN" dirty="0">
              <a:latin typeface="Times New Roman" panose="02020603050405020304" pitchFamily="18" charset="0"/>
              <a:cs typeface="Times New Roman" panose="02020603050405020304" pitchFamily="18" charset="0"/>
            </a:endParaRPr>
          </a:p>
          <a:p>
            <a:pPr marL="1028700" lvl="1" indent="-342900" algn="just">
              <a:lnSpc>
                <a:spcPct val="100000"/>
              </a:lnSpc>
            </a:pPr>
            <a:r>
              <a:rPr lang="en-IN" sz="1800" dirty="0">
                <a:latin typeface="Times New Roman" panose="02020603050405020304" pitchFamily="18" charset="0"/>
                <a:cs typeface="Times New Roman" panose="02020603050405020304" pitchFamily="18" charset="0"/>
              </a:rPr>
              <a:t>Label Encoding applied to categorical variables</a:t>
            </a:r>
          </a:p>
          <a:p>
            <a:pPr marL="1028700" lvl="1" indent="-342900" algn="just">
              <a:lnSpc>
                <a:spcPct val="100000"/>
              </a:lnSpc>
            </a:pPr>
            <a:r>
              <a:rPr lang="en-IN" sz="1800" dirty="0">
                <a:latin typeface="Times New Roman" panose="02020603050405020304" pitchFamily="18" charset="0"/>
                <a:cs typeface="Times New Roman" panose="02020603050405020304" pitchFamily="18" charset="0"/>
              </a:rPr>
              <a:t>Converts non-numeric fields into numeric format</a:t>
            </a:r>
          </a:p>
          <a:p>
            <a:pPr lvl="1" indent="0" algn="just">
              <a:lnSpc>
                <a:spcPct val="100000"/>
              </a:lnSpc>
              <a:buNone/>
            </a:pPr>
            <a:endParaRPr lang="en-IN" sz="700"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IN" b="1" dirty="0">
                <a:latin typeface="Times New Roman" panose="02020603050405020304" pitchFamily="18" charset="0"/>
                <a:cs typeface="Times New Roman" panose="02020603050405020304" pitchFamily="18" charset="0"/>
              </a:rPr>
              <a:t>     Feature Scaling:</a:t>
            </a:r>
            <a:endParaRPr lang="en-IN" dirty="0">
              <a:latin typeface="Times New Roman" panose="02020603050405020304" pitchFamily="18" charset="0"/>
              <a:cs typeface="Times New Roman" panose="02020603050405020304" pitchFamily="18" charset="0"/>
            </a:endParaRPr>
          </a:p>
          <a:p>
            <a:pPr marL="1028700" lvl="1" indent="-342900" algn="just">
              <a:lnSpc>
                <a:spcPct val="100000"/>
              </a:lnSpc>
            </a:pPr>
            <a:r>
              <a:rPr lang="en-IN" sz="1800" dirty="0" err="1">
                <a:latin typeface="Times New Roman" panose="02020603050405020304" pitchFamily="18" charset="0"/>
                <a:cs typeface="Times New Roman" panose="02020603050405020304" pitchFamily="18" charset="0"/>
              </a:rPr>
              <a:t>StandardScaler</a:t>
            </a:r>
            <a:r>
              <a:rPr lang="en-IN" sz="1800" dirty="0">
                <a:latin typeface="Times New Roman" panose="02020603050405020304" pitchFamily="18" charset="0"/>
                <a:cs typeface="Times New Roman" panose="02020603050405020304" pitchFamily="18" charset="0"/>
              </a:rPr>
              <a:t> used</a:t>
            </a:r>
          </a:p>
          <a:p>
            <a:pPr marL="1028700" lvl="1" indent="-342900" algn="just">
              <a:lnSpc>
                <a:spcPct val="100000"/>
              </a:lnSpc>
            </a:pPr>
            <a:r>
              <a:rPr lang="en-IN" sz="1800" dirty="0">
                <a:latin typeface="Times New Roman" panose="02020603050405020304" pitchFamily="18" charset="0"/>
                <a:cs typeface="Times New Roman" panose="02020603050405020304" pitchFamily="18" charset="0"/>
              </a:rPr>
              <a:t>Transforms features to zero mean and unit variance</a:t>
            </a:r>
            <a:endParaRPr lang="en-IN"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IN" sz="1800" dirty="0">
                <a:latin typeface="Times New Roman" panose="02020603050405020304" pitchFamily="18" charset="0"/>
                <a:cs typeface="Times New Roman" panose="02020603050405020304" pitchFamily="18" charset="0"/>
              </a:rPr>
              <a:t>      Reason:</a:t>
            </a:r>
          </a:p>
          <a:p>
            <a:pPr marL="971550" lvl="1" indent="-285750" algn="just">
              <a:lnSpc>
                <a:spcPct val="100000"/>
              </a:lnSpc>
            </a:pPr>
            <a:r>
              <a:rPr lang="en-IN" sz="1800" dirty="0">
                <a:latin typeface="Times New Roman" panose="02020603050405020304" pitchFamily="18" charset="0"/>
                <a:cs typeface="Times New Roman" panose="02020603050405020304" pitchFamily="18" charset="0"/>
              </a:rPr>
              <a:t>Prevents dominance of high-magnitude features</a:t>
            </a:r>
          </a:p>
          <a:p>
            <a:pPr marL="971550" lvl="1" indent="-285750" algn="just">
              <a:lnSpc>
                <a:spcPct val="100000"/>
              </a:lnSpc>
            </a:pPr>
            <a:r>
              <a:rPr lang="en-IN" sz="1800" dirty="0">
                <a:latin typeface="Times New Roman" panose="02020603050405020304" pitchFamily="18" charset="0"/>
                <a:cs typeface="Times New Roman" panose="02020603050405020304" pitchFamily="18" charset="0"/>
              </a:rPr>
              <a:t>Improves Isolation Forest performance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9123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60EA9-0309-E198-016E-4AF86F5B99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96B3F-0B93-59B0-11C3-7D7AB5EC2440}"/>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MODULES</a:t>
            </a:r>
            <a:endParaRPr lang="en-IN" sz="35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4DD738EC-44FA-0584-E9F8-5F0DA485DB0A}"/>
                  </a:ext>
                </a:extLst>
              </p:cNvPr>
              <p:cNvSpPr>
                <a:spLocks noGrp="1"/>
              </p:cNvSpPr>
              <p:nvPr>
                <p:ph sz="quarter" idx="13"/>
              </p:nvPr>
            </p:nvSpPr>
            <p:spPr>
              <a:xfrm>
                <a:off x="975519" y="2468881"/>
                <a:ext cx="10182476" cy="4190711"/>
              </a:xfrm>
            </p:spPr>
            <p:txBody>
              <a:bodyPr>
                <a:noAutofit/>
              </a:bodyPr>
              <a:lstStyle/>
              <a:p>
                <a:pPr algn="just">
                  <a:lnSpc>
                    <a:spcPct val="100000"/>
                  </a:lnSpc>
                  <a:spcBef>
                    <a:spcPts val="600"/>
                  </a:spcBef>
                </a:pPr>
                <a:r>
                  <a:rPr lang="en-IN" b="1" dirty="0">
                    <a:latin typeface="Times New Roman" panose="02020603050405020304" pitchFamily="18" charset="0"/>
                    <a:cs typeface="Times New Roman" panose="02020603050405020304" pitchFamily="18" charset="0"/>
                  </a:rPr>
                  <a:t>Standardization Formula:</a:t>
                </a:r>
              </a:p>
              <a:p>
                <a:pPr algn="just">
                  <a:lnSpc>
                    <a:spcPct val="100000"/>
                  </a:lnSpc>
                  <a:spcBef>
                    <a:spcPts val="600"/>
                  </a:spcBef>
                </a:pPr>
                <a:endParaRPr lang="en-US" sz="1800" b="1" i="1" dirty="0">
                  <a:latin typeface="Cambria Math" panose="02040503050406030204" pitchFamily="18" charset="0"/>
                  <a:cs typeface="Times New Roman" panose="02020603050405020304" pitchFamily="18" charset="0"/>
                </a:endParaRPr>
              </a:p>
              <a:p>
                <a:pPr algn="just">
                  <a:lnSpc>
                    <a:spcPct val="100000"/>
                  </a:lnSpc>
                  <a:spcBef>
                    <a:spcPts val="600"/>
                  </a:spcBef>
                </a:pPr>
                <a14:m>
                  <m:oMathPara xmlns:m="http://schemas.openxmlformats.org/officeDocument/2006/math">
                    <m:oMathParaPr>
                      <m:jc m:val="center"/>
                    </m:oMathParaPr>
                    <m:oMath xmlns:m="http://schemas.openxmlformats.org/officeDocument/2006/math">
                      <m:r>
                        <a:rPr lang="en-US" sz="2400" b="1" i="1" smtClean="0">
                          <a:latin typeface="Cambria Math" panose="02040503050406030204" pitchFamily="18" charset="0"/>
                          <a:cs typeface="Times New Roman" panose="02020603050405020304" pitchFamily="18" charset="0"/>
                        </a:rPr>
                        <m:t>𝒛</m:t>
                      </m:r>
                      <m:r>
                        <a:rPr lang="en-US" sz="2400" b="1" i="1" smtClean="0">
                          <a:latin typeface="Cambria Math" panose="02040503050406030204" pitchFamily="18" charset="0"/>
                          <a:cs typeface="Times New Roman" panose="02020603050405020304" pitchFamily="18" charset="0"/>
                        </a:rPr>
                        <m:t>=</m:t>
                      </m:r>
                      <m:f>
                        <m:fPr>
                          <m:ctrlPr>
                            <a:rPr lang="en-US" sz="2400" b="1" i="1" smtClean="0">
                              <a:latin typeface="Cambria Math" panose="02040503050406030204" pitchFamily="18" charset="0"/>
                              <a:cs typeface="Times New Roman" panose="02020603050405020304" pitchFamily="18" charset="0"/>
                            </a:rPr>
                          </m:ctrlPr>
                        </m:fPr>
                        <m:num>
                          <m:r>
                            <a:rPr lang="en-US" sz="2400" b="1" i="1" smtClean="0">
                              <a:latin typeface="Cambria Math" panose="02040503050406030204" pitchFamily="18" charset="0"/>
                              <a:cs typeface="Times New Roman" panose="02020603050405020304" pitchFamily="18" charset="0"/>
                            </a:rPr>
                            <m:t>𝒙</m:t>
                          </m:r>
                          <m:r>
                            <a:rPr lang="en-US" sz="2400" b="1" i="1" smtClean="0">
                              <a:latin typeface="Cambria Math" panose="02040503050406030204" pitchFamily="18" charset="0"/>
                              <a:cs typeface="Times New Roman" panose="02020603050405020304" pitchFamily="18" charset="0"/>
                            </a:rPr>
                            <m:t>−</m:t>
                          </m:r>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𝝁</m:t>
                          </m:r>
                        </m:num>
                        <m:den>
                          <m:r>
                            <a:rPr lang="en-US" sz="2400" b="1" i="1" smtClean="0">
                              <a:latin typeface="Cambria Math" panose="02040503050406030204" pitchFamily="18" charset="0"/>
                              <a:ea typeface="Cambria Math" panose="02040503050406030204" pitchFamily="18" charset="0"/>
                              <a:cs typeface="Times New Roman" panose="02020603050405020304" pitchFamily="18" charset="0"/>
                            </a:rPr>
                            <m:t>𝝈</m:t>
                          </m:r>
                        </m:den>
                      </m:f>
                    </m:oMath>
                  </m:oMathPara>
                </a14:m>
                <a:endParaRPr lang="en-IN" sz="1800" b="1" dirty="0">
                  <a:latin typeface="Times New Roman" panose="02020603050405020304" pitchFamily="18" charset="0"/>
                  <a:cs typeface="Times New Roman" panose="02020603050405020304" pitchFamily="18" charset="0"/>
                </a:endParaRPr>
              </a:p>
              <a:p>
                <a:pPr algn="just">
                  <a:lnSpc>
                    <a:spcPct val="100000"/>
                  </a:lnSpc>
                  <a:spcBef>
                    <a:spcPts val="600"/>
                  </a:spcBef>
                </a:pPr>
                <a:endParaRPr lang="en-IN" sz="2400" b="1"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IN" sz="2400" b="1" dirty="0">
                    <a:latin typeface="Times New Roman" panose="02020603050405020304" pitchFamily="18" charset="0"/>
                    <a:cs typeface="Times New Roman" panose="02020603050405020304" pitchFamily="18" charset="0"/>
                  </a:rPr>
                  <a:t>Anomaly Detection Module (Isolation Module):</a:t>
                </a:r>
              </a:p>
              <a:p>
                <a:pPr marL="285750" indent="-285750" algn="just">
                  <a:lnSpc>
                    <a:spcPct val="100000"/>
                  </a:lnSpc>
                  <a:spcBef>
                    <a:spcPts val="600"/>
                  </a:spcBef>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Randomly selects features and split points</a:t>
                </a:r>
              </a:p>
              <a:p>
                <a:pPr marL="285750" indent="-285750" algn="just">
                  <a:lnSpc>
                    <a:spcPct val="100000"/>
                  </a:lnSpc>
                  <a:spcBef>
                    <a:spcPts val="600"/>
                  </a:spcBef>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Isolates anomalies faster than normal points</a:t>
                </a:r>
              </a:p>
              <a:p>
                <a:pPr marL="285750" indent="-285750" algn="just">
                  <a:lnSpc>
                    <a:spcPct val="100000"/>
                  </a:lnSpc>
                  <a:spcBef>
                    <a:spcPts val="600"/>
                  </a:spcBef>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Uses path length as anomaly indicator</a:t>
                </a:r>
              </a:p>
              <a:p>
                <a:pPr lvl="1" indent="0" algn="just">
                  <a:lnSpc>
                    <a:spcPct val="100000"/>
                  </a:lnSpc>
                  <a:buNone/>
                </a:pPr>
                <a:endParaRPr lang="en-IN" sz="700"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IN" sz="1800" b="1" dirty="0">
                    <a:latin typeface="Times New Roman" panose="02020603050405020304" pitchFamily="18" charset="0"/>
                    <a:cs typeface="Times New Roman" panose="02020603050405020304" pitchFamily="18" charset="0"/>
                  </a:rPr>
                  <a:t>     Prediction Output:  	</a:t>
                </a:r>
                <a:r>
                  <a:rPr lang="en-IN" sz="1800" dirty="0">
                    <a:latin typeface="Times New Roman" panose="02020603050405020304" pitchFamily="18" charset="0"/>
                    <a:cs typeface="Times New Roman" panose="02020603050405020304" pitchFamily="18" charset="0"/>
                  </a:rPr>
                  <a:t>1 → Normal Transaction</a:t>
                </a:r>
              </a:p>
              <a:p>
                <a:pPr algn="just">
                  <a:lnSpc>
                    <a:spcPct val="100000"/>
                  </a:lnSpc>
                  <a:spcBef>
                    <a:spcPts val="600"/>
                  </a:spcBef>
                </a:pPr>
                <a:r>
                  <a:rPr lang="en-IN" sz="1800" dirty="0">
                    <a:latin typeface="Times New Roman" panose="02020603050405020304" pitchFamily="18" charset="0"/>
                    <a:cs typeface="Times New Roman" panose="02020603050405020304" pitchFamily="18" charset="0"/>
                  </a:rPr>
                  <a:t>		               -1 → Anomalous Transaction</a:t>
                </a:r>
              </a:p>
              <a:p>
                <a:pPr algn="just">
                  <a:lnSpc>
                    <a:spcPct val="100000"/>
                  </a:lnSpc>
                  <a:spcBef>
                    <a:spcPts val="600"/>
                  </a:spcBef>
                </a:pPr>
                <a:endParaRPr lang="en-IN" sz="1800" b="1" dirty="0">
                  <a:latin typeface="Times New Roman" panose="02020603050405020304" pitchFamily="18" charset="0"/>
                  <a:cs typeface="Times New Roman" panose="02020603050405020304" pitchFamily="18" charset="0"/>
                </a:endParaRPr>
              </a:p>
            </p:txBody>
          </p:sp>
        </mc:Choice>
        <mc:Fallback>
          <p:sp>
            <p:nvSpPr>
              <p:cNvPr id="5" name="Content Placeholder 3">
                <a:extLst>
                  <a:ext uri="{FF2B5EF4-FFF2-40B4-BE49-F238E27FC236}">
                    <a16:creationId xmlns:a16="http://schemas.microsoft.com/office/drawing/2014/main" id="{4DD738EC-44FA-0584-E9F8-5F0DA485DB0A}"/>
                  </a:ext>
                </a:extLst>
              </p:cNvPr>
              <p:cNvSpPr>
                <a:spLocks noGrp="1" noRot="1" noChangeAspect="1" noMove="1" noResize="1" noEditPoints="1" noAdjustHandles="1" noChangeArrowheads="1" noChangeShapeType="1" noTextEdit="1"/>
              </p:cNvSpPr>
              <p:nvPr>
                <p:ph sz="quarter" idx="13"/>
              </p:nvPr>
            </p:nvSpPr>
            <p:spPr>
              <a:xfrm>
                <a:off x="975519" y="2468881"/>
                <a:ext cx="10182476" cy="4190711"/>
              </a:xfrm>
              <a:blipFill>
                <a:blip r:embed="rId2"/>
                <a:stretch>
                  <a:fillRect l="-1868" t="-604" b="-2417"/>
                </a:stretch>
              </a:blipFill>
            </p:spPr>
            <p:txBody>
              <a:bodyPr/>
              <a:lstStyle/>
              <a:p>
                <a:r>
                  <a:rPr lang="en-US">
                    <a:noFill/>
                  </a:rPr>
                  <a:t> </a:t>
                </a:r>
              </a:p>
            </p:txBody>
          </p:sp>
        </mc:Fallback>
      </mc:AlternateContent>
    </p:spTree>
    <p:extLst>
      <p:ext uri="{BB962C8B-B14F-4D97-AF65-F5344CB8AC3E}">
        <p14:creationId xmlns:p14="http://schemas.microsoft.com/office/powerpoint/2010/main" val="100463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65BD1-DF8A-09FE-20EB-566332050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7D270-23BA-9506-4D7D-ED15D7351D48}"/>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MODULES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4B1B9DFC-0824-B8F9-5336-EE868E5703DE}"/>
              </a:ext>
            </a:extLst>
          </p:cNvPr>
          <p:cNvSpPr>
            <a:spLocks noGrp="1"/>
          </p:cNvSpPr>
          <p:nvPr>
            <p:ph sz="quarter" idx="13"/>
          </p:nvPr>
        </p:nvSpPr>
        <p:spPr>
          <a:xfrm>
            <a:off x="749147" y="2335577"/>
            <a:ext cx="10467334" cy="4324016"/>
          </a:xfrm>
        </p:spPr>
        <p:txBody>
          <a:bodyPr>
            <a:noAutofit/>
          </a:bodyPr>
          <a:lstStyle/>
          <a:p>
            <a:pPr algn="just">
              <a:lnSpc>
                <a:spcPct val="100000"/>
              </a:lnSpc>
              <a:spcBef>
                <a:spcPts val="600"/>
              </a:spcBef>
            </a:pPr>
            <a:r>
              <a:rPr lang="en-IN" b="1" dirty="0">
                <a:latin typeface="Times New Roman" panose="02020603050405020304" pitchFamily="18" charset="0"/>
                <a:cs typeface="Times New Roman" panose="02020603050405020304" pitchFamily="18" charset="0"/>
              </a:rPr>
              <a:t>Real-time Streaming Simulation Module:</a:t>
            </a:r>
            <a:endParaRPr lang="en-IN" dirty="0">
              <a:latin typeface="Times New Roman" panose="02020603050405020304" pitchFamily="18" charset="0"/>
              <a:cs typeface="Times New Roman" panose="02020603050405020304" pitchFamily="18" charset="0"/>
            </a:endParaRPr>
          </a:p>
          <a:p>
            <a:pPr marL="342900" indent="-342900" algn="just">
              <a:lnSpc>
                <a:spcPct val="100000"/>
              </a:lnSpc>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simulates real-time transaction flow by processing transactions one at a time with a small artificial delay using </a:t>
            </a:r>
            <a:r>
              <a:rPr lang="en-IN" dirty="0" err="1">
                <a:latin typeface="Times New Roman" panose="02020603050405020304" pitchFamily="18" charset="0"/>
                <a:cs typeface="Times New Roman" panose="02020603050405020304" pitchFamily="18" charset="0"/>
              </a:rPr>
              <a:t>time.sleep</a:t>
            </a:r>
            <a:r>
              <a:rPr lang="en-IN" dirty="0">
                <a:latin typeface="Times New Roman" panose="02020603050405020304" pitchFamily="18" charset="0"/>
                <a:cs typeface="Times New Roman" panose="02020603050405020304" pitchFamily="18" charset="0"/>
              </a:rPr>
              <a:t>().</a:t>
            </a:r>
          </a:p>
          <a:p>
            <a:pPr marL="342900" indent="-342900" algn="just">
              <a:lnSpc>
                <a:spcPct val="100000"/>
              </a:lnSpc>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Each transaction is evaluated immediately by the anomaly detection model</a:t>
            </a:r>
          </a:p>
          <a:p>
            <a:pPr algn="just">
              <a:lnSpc>
                <a:spcPct val="100000"/>
              </a:lnSpc>
              <a:spcBef>
                <a:spcPts val="600"/>
              </a:spcBef>
            </a:pPr>
            <a:endParaRPr lang="en-IN"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IN" b="1" dirty="0">
                <a:latin typeface="Times New Roman" panose="02020603050405020304" pitchFamily="18" charset="0"/>
                <a:cs typeface="Times New Roman" panose="02020603050405020304" pitchFamily="18" charset="0"/>
              </a:rPr>
              <a:t>Anomaly Logging and Storage Module:</a:t>
            </a:r>
            <a:endParaRPr lang="en-IN" dirty="0">
              <a:latin typeface="Times New Roman" panose="02020603050405020304" pitchFamily="18" charset="0"/>
              <a:cs typeface="Times New Roman" panose="02020603050405020304" pitchFamily="18" charset="0"/>
            </a:endParaRPr>
          </a:p>
          <a:p>
            <a:pPr marL="342900" indent="-342900" algn="just">
              <a:lnSpc>
                <a:spcPct val="100000"/>
              </a:lnSpc>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Detected anomalies are stored in a CSV file (</a:t>
            </a:r>
            <a:r>
              <a:rPr lang="en-IN" dirty="0" err="1">
                <a:latin typeface="Times New Roman" panose="02020603050405020304" pitchFamily="18" charset="0"/>
                <a:cs typeface="Times New Roman" panose="02020603050405020304" pitchFamily="18" charset="0"/>
              </a:rPr>
              <a:t>anomalies_live.csv</a:t>
            </a:r>
            <a:r>
              <a:rPr lang="en-IN" dirty="0">
                <a:latin typeface="Times New Roman" panose="02020603050405020304" pitchFamily="18" charset="0"/>
                <a:cs typeface="Times New Roman" panose="02020603050405020304" pitchFamily="18" charset="0"/>
              </a:rPr>
              <a:t>) along with timestamp, anomaly score, and detection reason.</a:t>
            </a:r>
          </a:p>
          <a:p>
            <a:pPr algn="just">
              <a:lnSpc>
                <a:spcPct val="100000"/>
              </a:lnSpc>
              <a:spcBef>
                <a:spcPts val="600"/>
              </a:spcBef>
            </a:pPr>
            <a:r>
              <a:rPr lang="en-IN" sz="1800" b="1" dirty="0">
                <a:latin typeface="Times New Roman" panose="02020603050405020304" pitchFamily="18" charset="0"/>
                <a:cs typeface="Times New Roman" panose="02020603050405020304" pitchFamily="18" charset="0"/>
              </a:rPr>
              <a:t>      Advantages</a:t>
            </a:r>
            <a:r>
              <a:rPr lang="en-IN" dirty="0">
                <a:latin typeface="Times New Roman" panose="02020603050405020304" pitchFamily="18" charset="0"/>
                <a:cs typeface="Times New Roman" panose="02020603050405020304" pitchFamily="18" charset="0"/>
              </a:rPr>
              <a:t>:</a:t>
            </a:r>
          </a:p>
          <a:p>
            <a:pPr marL="1028700" lvl="1" indent="-342900" algn="just">
              <a:lnSpc>
                <a:spcPct val="100000"/>
              </a:lnSpc>
            </a:pPr>
            <a:r>
              <a:rPr lang="en-IN" dirty="0">
                <a:latin typeface="Times New Roman" panose="02020603050405020304" pitchFamily="18" charset="0"/>
                <a:cs typeface="Times New Roman" panose="02020603050405020304" pitchFamily="18" charset="0"/>
              </a:rPr>
              <a:t>Separates detection and visualization</a:t>
            </a:r>
          </a:p>
          <a:p>
            <a:pPr marL="1028700" lvl="1" indent="-342900" algn="just">
              <a:lnSpc>
                <a:spcPct val="100000"/>
              </a:lnSpc>
            </a:pPr>
            <a:r>
              <a:rPr lang="en-IN" dirty="0">
                <a:latin typeface="Times New Roman" panose="02020603050405020304" pitchFamily="18" charset="0"/>
                <a:cs typeface="Times New Roman" panose="02020603050405020304" pitchFamily="18" charset="0"/>
              </a:rPr>
              <a:t>Supports historical analysis</a:t>
            </a:r>
          </a:p>
        </p:txBody>
      </p:sp>
    </p:spTree>
    <p:extLst>
      <p:ext uri="{BB962C8B-B14F-4D97-AF65-F5344CB8AC3E}">
        <p14:creationId xmlns:p14="http://schemas.microsoft.com/office/powerpoint/2010/main" val="408436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54E03-24EF-B615-A322-1E04F5F6E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24F6D-9DFC-EED3-3F62-553014B0829C}"/>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MODULES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4FBF8D46-BD54-A3A8-82A7-7388C86D22A9}"/>
              </a:ext>
            </a:extLst>
          </p:cNvPr>
          <p:cNvSpPr>
            <a:spLocks noGrp="1"/>
          </p:cNvSpPr>
          <p:nvPr>
            <p:ph sz="quarter" idx="13"/>
          </p:nvPr>
        </p:nvSpPr>
        <p:spPr>
          <a:xfrm>
            <a:off x="749147" y="2335577"/>
            <a:ext cx="10467334" cy="4324016"/>
          </a:xfrm>
        </p:spPr>
        <p:txBody>
          <a:bodyPr>
            <a:noAutofit/>
          </a:bodyPr>
          <a:lstStyle/>
          <a:p>
            <a:pPr algn="just">
              <a:lnSpc>
                <a:spcPct val="100000"/>
              </a:lnSpc>
              <a:spcBef>
                <a:spcPts val="600"/>
              </a:spcBef>
            </a:pPr>
            <a:r>
              <a:rPr lang="en-IN" sz="2400" b="1" dirty="0">
                <a:latin typeface="Times New Roman" panose="02020603050405020304" pitchFamily="18" charset="0"/>
                <a:cs typeface="Times New Roman" panose="02020603050405020304" pitchFamily="18" charset="0"/>
              </a:rPr>
              <a:t>Visualization &amp; Monitoring Module:</a:t>
            </a:r>
            <a:endParaRPr lang="en-IN" sz="2400"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IN" dirty="0">
                <a:latin typeface="Times New Roman" panose="02020603050405020304" pitchFamily="18" charset="0"/>
                <a:cs typeface="Times New Roman" panose="02020603050405020304" pitchFamily="18" charset="0"/>
              </a:rPr>
              <a:t>     A live dashboard is built using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to monitor anomalies in real time.</a:t>
            </a:r>
          </a:p>
          <a:p>
            <a:pPr algn="just">
              <a:lnSpc>
                <a:spcPct val="100000"/>
              </a:lnSpc>
              <a:spcBef>
                <a:spcPts val="600"/>
              </a:spcBef>
            </a:pPr>
            <a:endParaRPr lang="en-IN"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IN" b="1" dirty="0">
                <a:latin typeface="Times New Roman" panose="02020603050405020304" pitchFamily="18" charset="0"/>
                <a:cs typeface="Times New Roman" panose="02020603050405020304" pitchFamily="18" charset="0"/>
              </a:rPr>
              <a:t>Displayed Metrics:</a:t>
            </a:r>
          </a:p>
          <a:p>
            <a:pPr marL="971550" lvl="1" indent="-285750" algn="just">
              <a:lnSpc>
                <a:spcPct val="100000"/>
              </a:lnSpc>
            </a:pPr>
            <a:r>
              <a:rPr lang="en-IN" sz="1800" dirty="0">
                <a:latin typeface="Times New Roman" panose="02020603050405020304" pitchFamily="18" charset="0"/>
                <a:cs typeface="Times New Roman" panose="02020603050405020304" pitchFamily="18" charset="0"/>
              </a:rPr>
              <a:t>Total anomaly count</a:t>
            </a:r>
          </a:p>
          <a:p>
            <a:pPr marL="971550" lvl="1" indent="-285750" algn="just">
              <a:lnSpc>
                <a:spcPct val="100000"/>
              </a:lnSpc>
            </a:pPr>
            <a:r>
              <a:rPr lang="en-IN" sz="1800" dirty="0">
                <a:latin typeface="Times New Roman" panose="02020603050405020304" pitchFamily="18" charset="0"/>
                <a:cs typeface="Times New Roman" panose="02020603050405020304" pitchFamily="18" charset="0"/>
              </a:rPr>
              <a:t>Recent anomalies</a:t>
            </a:r>
          </a:p>
          <a:p>
            <a:pPr marL="971550" lvl="1" indent="-285750" algn="just">
              <a:lnSpc>
                <a:spcPct val="100000"/>
              </a:lnSpc>
            </a:pPr>
            <a:r>
              <a:rPr lang="en-IN" sz="1800" dirty="0">
                <a:latin typeface="Times New Roman" panose="02020603050405020304" pitchFamily="18" charset="0"/>
                <a:cs typeface="Times New Roman" panose="02020603050405020304" pitchFamily="18" charset="0"/>
              </a:rPr>
              <a:t>Time-based trends</a:t>
            </a:r>
          </a:p>
          <a:p>
            <a:pPr marL="971550" lvl="1" indent="-285750" algn="just">
              <a:lnSpc>
                <a:spcPct val="100000"/>
              </a:lnSpc>
            </a:pPr>
            <a:r>
              <a:rPr lang="en-IN" sz="1800" dirty="0">
                <a:latin typeface="Times New Roman" panose="02020603050405020304" pitchFamily="18" charset="0"/>
                <a:cs typeface="Times New Roman" panose="02020603050405020304" pitchFamily="18" charset="0"/>
              </a:rPr>
              <a:t>Anomaly score distribution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4826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39107-3F7A-8990-441C-E45FBDEE54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B9156-A164-9045-4DBE-76D8CE33CB69}"/>
              </a:ext>
            </a:extLst>
          </p:cNvPr>
          <p:cNvSpPr>
            <a:spLocks noGrp="1"/>
          </p:cNvSpPr>
          <p:nvPr>
            <p:ph type="title"/>
          </p:nvPr>
        </p:nvSpPr>
        <p:spPr/>
        <p:txBody>
          <a:bodyPr/>
          <a:lstStyle/>
          <a:p>
            <a:r>
              <a:rPr lang="en-IN" sz="3500" dirty="0">
                <a:latin typeface="Times New Roman" panose="02020603050405020304" pitchFamily="18" charset="0"/>
                <a:cs typeface="Times New Roman" panose="02020603050405020304" pitchFamily="18" charset="0"/>
              </a:rPr>
              <a:t>RESULTS</a:t>
            </a:r>
          </a:p>
        </p:txBody>
      </p:sp>
      <p:pic>
        <p:nvPicPr>
          <p:cNvPr id="3" name="Content Placeholder 2">
            <a:extLst>
              <a:ext uri="{FF2B5EF4-FFF2-40B4-BE49-F238E27FC236}">
                <a16:creationId xmlns:a16="http://schemas.microsoft.com/office/drawing/2014/main" id="{A3F1D8DB-7A28-9E1A-0175-8914B52A36BA}"/>
              </a:ext>
            </a:extLst>
          </p:cNvPr>
          <p:cNvPicPr>
            <a:picLocks noGrp="1" noChangeAspect="1"/>
          </p:cNvPicPr>
          <p:nvPr>
            <p:ph sz="quarter" idx="13"/>
          </p:nvPr>
        </p:nvPicPr>
        <p:blipFill>
          <a:blip r:embed="rId2"/>
          <a:stretch>
            <a:fillRect/>
          </a:stretch>
        </p:blipFill>
        <p:spPr>
          <a:xfrm>
            <a:off x="1661160" y="2362081"/>
            <a:ext cx="8839200" cy="3348191"/>
          </a:xfrm>
          <a:prstGeom prst="rect">
            <a:avLst/>
          </a:prstGeom>
        </p:spPr>
      </p:pic>
      <p:sp>
        <p:nvSpPr>
          <p:cNvPr id="9" name="AutoShape 2" descr="Uploaded image">
            <a:extLst>
              <a:ext uri="{FF2B5EF4-FFF2-40B4-BE49-F238E27FC236}">
                <a16:creationId xmlns:a16="http://schemas.microsoft.com/office/drawing/2014/main" id="{EAB81BAC-F38E-7ED9-B76F-D8330CD6D45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5F4D8CD5-8743-1DF8-F685-C2984C954F6B}"/>
              </a:ext>
            </a:extLst>
          </p:cNvPr>
          <p:cNvSpPr txBox="1"/>
          <p:nvPr/>
        </p:nvSpPr>
        <p:spPr>
          <a:xfrm>
            <a:off x="1661160" y="5951706"/>
            <a:ext cx="9009778" cy="584775"/>
          </a:xfrm>
          <a:prstGeom prst="rect">
            <a:avLst/>
          </a:prstGeom>
          <a:noFill/>
        </p:spPr>
        <p:txBody>
          <a:bodyPr wrap="square">
            <a:spAutoFit/>
          </a:bodyPr>
          <a:lstStyle/>
          <a:p>
            <a:pPr algn="ctr"/>
            <a:r>
              <a:rPr lang="en-US" sz="1600" i="1" dirty="0">
                <a:solidFill>
                  <a:schemeClr val="bg1"/>
                </a:solidFill>
                <a:latin typeface="Times New Roman" panose="02020603050405020304" pitchFamily="18" charset="0"/>
                <a:cs typeface="Times New Roman" panose="02020603050405020304" pitchFamily="18" charset="0"/>
              </a:rPr>
              <a:t>Above Image represents the Isolation Forest model training output showing successful preprocessing, feature scaling, and total number of anomalies detected in the dataset.</a:t>
            </a:r>
          </a:p>
        </p:txBody>
      </p:sp>
    </p:spTree>
    <p:extLst>
      <p:ext uri="{BB962C8B-B14F-4D97-AF65-F5344CB8AC3E}">
        <p14:creationId xmlns:p14="http://schemas.microsoft.com/office/powerpoint/2010/main" val="2783146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4845B-7103-983F-37B1-2094F7C6B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813F40-F4C5-B732-FF37-FF3A0A923ACA}"/>
              </a:ext>
            </a:extLst>
          </p:cNvPr>
          <p:cNvSpPr>
            <a:spLocks noGrp="1"/>
          </p:cNvSpPr>
          <p:nvPr>
            <p:ph type="title"/>
          </p:nvPr>
        </p:nvSpPr>
        <p:spPr/>
        <p:txBody>
          <a:bodyPr/>
          <a:lstStyle/>
          <a:p>
            <a:r>
              <a:rPr lang="en-IN" sz="3500" dirty="0">
                <a:latin typeface="Times New Roman" panose="02020603050405020304" pitchFamily="18" charset="0"/>
                <a:cs typeface="Times New Roman" panose="02020603050405020304" pitchFamily="18" charset="0"/>
              </a:rPr>
              <a:t>RESULTS</a:t>
            </a:r>
          </a:p>
        </p:txBody>
      </p:sp>
      <p:pic>
        <p:nvPicPr>
          <p:cNvPr id="7" name="Picture 6" descr="A screenshot of a phone&#10;&#10;AI-generated content may be incorrect.">
            <a:extLst>
              <a:ext uri="{FF2B5EF4-FFF2-40B4-BE49-F238E27FC236}">
                <a16:creationId xmlns:a16="http://schemas.microsoft.com/office/drawing/2014/main" id="{1AC33CD5-75F0-F7BB-72B5-B6FC9C21FB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3140" y="2442039"/>
            <a:ext cx="7635240" cy="2643237"/>
          </a:xfrm>
          <a:prstGeom prst="rect">
            <a:avLst/>
          </a:prstGeom>
        </p:spPr>
      </p:pic>
      <p:sp>
        <p:nvSpPr>
          <p:cNvPr id="14" name="TextBox 13">
            <a:extLst>
              <a:ext uri="{FF2B5EF4-FFF2-40B4-BE49-F238E27FC236}">
                <a16:creationId xmlns:a16="http://schemas.microsoft.com/office/drawing/2014/main" id="{6C59AA9B-885A-1952-AC04-7B67D276572B}"/>
              </a:ext>
            </a:extLst>
          </p:cNvPr>
          <p:cNvSpPr txBox="1"/>
          <p:nvPr/>
        </p:nvSpPr>
        <p:spPr>
          <a:xfrm>
            <a:off x="1591111" y="5462202"/>
            <a:ext cx="9009778" cy="584775"/>
          </a:xfrm>
          <a:prstGeom prst="rect">
            <a:avLst/>
          </a:prstGeom>
          <a:noFill/>
        </p:spPr>
        <p:txBody>
          <a:bodyPr wrap="square">
            <a:spAutoFit/>
          </a:bodyPr>
          <a:lstStyle/>
          <a:p>
            <a:pPr algn="ctr"/>
            <a:r>
              <a:rPr lang="en-US" sz="1600" i="1" dirty="0">
                <a:solidFill>
                  <a:schemeClr val="bg1"/>
                </a:solidFill>
                <a:latin typeface="Times New Roman" panose="02020603050405020304" pitchFamily="18" charset="0"/>
                <a:cs typeface="Times New Roman" panose="02020603050405020304" pitchFamily="18" charset="0"/>
              </a:rPr>
              <a:t>Above Table represents the Anomaly scores with corresponding detection reasons, showing which transaction features contributed to each anomaly.</a:t>
            </a:r>
          </a:p>
        </p:txBody>
      </p:sp>
    </p:spTree>
    <p:extLst>
      <p:ext uri="{BB962C8B-B14F-4D97-AF65-F5344CB8AC3E}">
        <p14:creationId xmlns:p14="http://schemas.microsoft.com/office/powerpoint/2010/main" val="640597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7BD08-CF61-4833-1B54-026F04325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A7024-C23A-51E0-4DA4-F6717D24640B}"/>
              </a:ext>
            </a:extLst>
          </p:cNvPr>
          <p:cNvSpPr>
            <a:spLocks noGrp="1"/>
          </p:cNvSpPr>
          <p:nvPr>
            <p:ph type="title"/>
          </p:nvPr>
        </p:nvSpPr>
        <p:spPr/>
        <p:txBody>
          <a:bodyPr/>
          <a:lstStyle/>
          <a:p>
            <a:r>
              <a:rPr lang="en-IN" sz="3500" dirty="0">
                <a:latin typeface="Times New Roman" panose="02020603050405020304" pitchFamily="18" charset="0"/>
                <a:cs typeface="Times New Roman" panose="02020603050405020304" pitchFamily="18" charset="0"/>
              </a:rPr>
              <a:t>RESULTS &amp; FINDINGS</a:t>
            </a:r>
          </a:p>
        </p:txBody>
      </p:sp>
      <p:sp>
        <p:nvSpPr>
          <p:cNvPr id="5" name="Content Placeholder 3">
            <a:extLst>
              <a:ext uri="{FF2B5EF4-FFF2-40B4-BE49-F238E27FC236}">
                <a16:creationId xmlns:a16="http://schemas.microsoft.com/office/drawing/2014/main" id="{8EA0ED9D-4073-3D01-8169-083AA2E99CC1}"/>
              </a:ext>
            </a:extLst>
          </p:cNvPr>
          <p:cNvSpPr>
            <a:spLocks noGrp="1"/>
          </p:cNvSpPr>
          <p:nvPr>
            <p:ph sz="quarter" idx="13"/>
          </p:nvPr>
        </p:nvSpPr>
        <p:spPr>
          <a:xfrm>
            <a:off x="749147" y="2335577"/>
            <a:ext cx="10467334" cy="4324016"/>
          </a:xfrm>
        </p:spPr>
        <p:txBody>
          <a:bodyPr>
            <a:noAutofit/>
          </a:bodyPr>
          <a:lstStyle/>
          <a:p>
            <a:pPr algn="just">
              <a:lnSpc>
                <a:spcPct val="100000"/>
              </a:lnSpc>
              <a:spcBef>
                <a:spcPts val="600"/>
              </a:spcBef>
            </a:pPr>
            <a:r>
              <a:rPr lang="en-IN" sz="2400" b="1" dirty="0">
                <a:latin typeface="Times New Roman" panose="02020603050405020304" pitchFamily="18" charset="0"/>
                <a:cs typeface="Times New Roman" panose="02020603050405020304" pitchFamily="18" charset="0"/>
              </a:rPr>
              <a:t>Observations:</a:t>
            </a:r>
          </a:p>
          <a:p>
            <a:pPr algn="just">
              <a:lnSpc>
                <a:spcPct val="100000"/>
              </a:lnSpc>
              <a:spcBef>
                <a:spcPts val="600"/>
              </a:spcBef>
            </a:pPr>
            <a:endParaRPr lang="en-IN" dirty="0">
              <a:latin typeface="Times New Roman" panose="02020603050405020304" pitchFamily="18" charset="0"/>
              <a:cs typeface="Times New Roman" panose="02020603050405020304" pitchFamily="18" charset="0"/>
            </a:endParaRPr>
          </a:p>
          <a:p>
            <a:pPr marL="1028700" lvl="1" indent="-342900" algn="just">
              <a:lnSpc>
                <a:spcPct val="100000"/>
              </a:lnSpc>
            </a:pPr>
            <a:r>
              <a:rPr lang="en-IN" sz="2400" dirty="0">
                <a:latin typeface="Times New Roman" panose="02020603050405020304" pitchFamily="18" charset="0"/>
                <a:cs typeface="Times New Roman" panose="02020603050405020304" pitchFamily="18" charset="0"/>
              </a:rPr>
              <a:t>Anomalies form a small percentage of total transactions</a:t>
            </a:r>
          </a:p>
          <a:p>
            <a:pPr marL="342900" indent="-342900" algn="just">
              <a:lnSpc>
                <a:spcPct val="100000"/>
              </a:lnSpc>
              <a:spcBef>
                <a:spcPts val="600"/>
              </a:spcBef>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1028700" lvl="1" indent="-342900" algn="just">
              <a:lnSpc>
                <a:spcPct val="100000"/>
              </a:lnSpc>
            </a:pPr>
            <a:r>
              <a:rPr lang="en-IN" sz="2400" dirty="0">
                <a:latin typeface="Times New Roman" panose="02020603050405020304" pitchFamily="18" charset="0"/>
                <a:cs typeface="Times New Roman" panose="02020603050405020304" pitchFamily="18" charset="0"/>
              </a:rPr>
              <a:t>Isolation Forest successfully detects rare patterns</a:t>
            </a:r>
          </a:p>
          <a:p>
            <a:pPr marL="342900" indent="-342900" algn="just">
              <a:lnSpc>
                <a:spcPct val="100000"/>
              </a:lnSpc>
              <a:spcBef>
                <a:spcPts val="600"/>
              </a:spcBef>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1028700" lvl="1" indent="-342900" algn="just">
              <a:lnSpc>
                <a:spcPct val="100000"/>
              </a:lnSpc>
            </a:pPr>
            <a:r>
              <a:rPr lang="en-IN" sz="2400" dirty="0">
                <a:latin typeface="Times New Roman" panose="02020603050405020304" pitchFamily="18" charset="0"/>
                <a:cs typeface="Times New Roman" panose="02020603050405020304" pitchFamily="18" charset="0"/>
              </a:rPr>
              <a:t>Real-time detection achieved with low latency</a:t>
            </a:r>
            <a:endParaRPr lang="en-IN" dirty="0">
              <a:latin typeface="Times New Roman" panose="02020603050405020304" pitchFamily="18" charset="0"/>
              <a:cs typeface="Times New Roman" panose="02020603050405020304" pitchFamily="18" charset="0"/>
            </a:endParaRPr>
          </a:p>
          <a:p>
            <a:pPr algn="just">
              <a:lnSpc>
                <a:spcPct val="100000"/>
              </a:lnSpc>
              <a:spcBef>
                <a:spcPts val="600"/>
              </a:spcBef>
            </a:pPr>
            <a:endParaRPr lang="en-IN" dirty="0">
              <a:latin typeface="Times New Roman" panose="02020603050405020304" pitchFamily="18" charset="0"/>
              <a:cs typeface="Times New Roman" panose="02020603050405020304" pitchFamily="18" charset="0"/>
            </a:endParaRPr>
          </a:p>
          <a:p>
            <a:pPr algn="just">
              <a:lnSpc>
                <a:spcPct val="100000"/>
              </a:lnSpc>
              <a:spcBef>
                <a:spcPts val="600"/>
              </a:spcBef>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9851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9B128-EF30-899B-7841-03804EAD52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0EF78-7FAF-CA3B-4FFF-D95D16A3413A}"/>
              </a:ext>
            </a:extLst>
          </p:cNvPr>
          <p:cNvSpPr>
            <a:spLocks noGrp="1"/>
          </p:cNvSpPr>
          <p:nvPr>
            <p:ph type="title"/>
          </p:nvPr>
        </p:nvSpPr>
        <p:spPr/>
        <p:txBody>
          <a:bodyPr/>
          <a:lstStyle/>
          <a:p>
            <a:r>
              <a:rPr lang="en-IN" sz="3500" dirty="0">
                <a:latin typeface="Times New Roman" panose="02020603050405020304" pitchFamily="18" charset="0"/>
                <a:cs typeface="Times New Roman" panose="02020603050405020304" pitchFamily="18" charset="0"/>
              </a:rPr>
              <a:t>INTERPRETATION &amp; DISCUSSION</a:t>
            </a:r>
          </a:p>
        </p:txBody>
      </p:sp>
      <p:sp>
        <p:nvSpPr>
          <p:cNvPr id="5" name="Content Placeholder 3">
            <a:extLst>
              <a:ext uri="{FF2B5EF4-FFF2-40B4-BE49-F238E27FC236}">
                <a16:creationId xmlns:a16="http://schemas.microsoft.com/office/drawing/2014/main" id="{6F68E86C-2D71-956A-3375-4DACB6D0E839}"/>
              </a:ext>
            </a:extLst>
          </p:cNvPr>
          <p:cNvSpPr>
            <a:spLocks noGrp="1"/>
          </p:cNvSpPr>
          <p:nvPr>
            <p:ph sz="quarter" idx="13"/>
          </p:nvPr>
        </p:nvSpPr>
        <p:spPr>
          <a:xfrm>
            <a:off x="749147" y="2335577"/>
            <a:ext cx="10467334" cy="4324016"/>
          </a:xfrm>
        </p:spPr>
        <p:txBody>
          <a:bodyPr>
            <a:noAutofit/>
          </a:bodyPr>
          <a:lstStyle/>
          <a:p>
            <a:pPr algn="just">
              <a:lnSpc>
                <a:spcPct val="100000"/>
              </a:lnSpc>
              <a:spcBef>
                <a:spcPts val="600"/>
              </a:spcBef>
            </a:pPr>
            <a:r>
              <a:rPr lang="en-IN" sz="2400" b="1" dirty="0">
                <a:latin typeface="Times New Roman" panose="02020603050405020304" pitchFamily="18" charset="0"/>
                <a:cs typeface="Times New Roman" panose="02020603050405020304" pitchFamily="18" charset="0"/>
              </a:rPr>
              <a:t>Interpretations:</a:t>
            </a:r>
            <a:endParaRPr lang="en-IN" sz="2400" dirty="0">
              <a:latin typeface="Times New Roman" panose="02020603050405020304" pitchFamily="18" charset="0"/>
              <a:cs typeface="Times New Roman" panose="02020603050405020304" pitchFamily="18" charset="0"/>
            </a:endParaRPr>
          </a:p>
          <a:p>
            <a:pPr marL="1028700" lvl="1" indent="-342900" algn="just">
              <a:lnSpc>
                <a:spcPct val="100000"/>
              </a:lnSpc>
            </a:pPr>
            <a:r>
              <a:rPr lang="en-IN" sz="2400" dirty="0">
                <a:latin typeface="Times New Roman" panose="02020603050405020304" pitchFamily="18" charset="0"/>
                <a:cs typeface="Times New Roman" panose="02020603050405020304" pitchFamily="18" charset="0"/>
              </a:rPr>
              <a:t>Lower anomaly scores indicate higher abnormality</a:t>
            </a:r>
          </a:p>
          <a:p>
            <a:pPr marL="1028700" lvl="1" indent="-342900" algn="just">
              <a:lnSpc>
                <a:spcPct val="100000"/>
              </a:lnSpc>
            </a:pPr>
            <a:r>
              <a:rPr lang="en-IN" sz="2400" dirty="0">
                <a:latin typeface="Times New Roman" panose="02020603050405020304" pitchFamily="18" charset="0"/>
                <a:cs typeface="Times New Roman" panose="02020603050405020304" pitchFamily="18" charset="0"/>
              </a:rPr>
              <a:t>Detected anomalies align with extreme transaction patterns</a:t>
            </a:r>
          </a:p>
          <a:p>
            <a:pPr lvl="1" indent="0" algn="just">
              <a:lnSpc>
                <a:spcPct val="100000"/>
              </a:lnSpc>
              <a:buNone/>
            </a:pPr>
            <a:endParaRPr lang="en-IN" sz="2400"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IN" sz="2400" b="1" dirty="0">
                <a:latin typeface="Times New Roman" panose="02020603050405020304" pitchFamily="18" charset="0"/>
                <a:cs typeface="Times New Roman" panose="02020603050405020304" pitchFamily="18" charset="0"/>
              </a:rPr>
              <a:t>Discussions:</a:t>
            </a:r>
            <a:endParaRPr lang="en-IN" sz="2400" dirty="0">
              <a:latin typeface="Times New Roman" panose="02020603050405020304" pitchFamily="18" charset="0"/>
              <a:cs typeface="Times New Roman" panose="02020603050405020304" pitchFamily="18" charset="0"/>
            </a:endParaRPr>
          </a:p>
          <a:p>
            <a:pPr marL="1028700" lvl="1" indent="-342900" algn="just">
              <a:lnSpc>
                <a:spcPct val="100000"/>
              </a:lnSpc>
            </a:pPr>
            <a:r>
              <a:rPr lang="en-IN" sz="2400" dirty="0">
                <a:latin typeface="Times New Roman" panose="02020603050405020304" pitchFamily="18" charset="0"/>
                <a:cs typeface="Times New Roman" panose="02020603050405020304" pitchFamily="18" charset="0"/>
              </a:rPr>
              <a:t>System is effective for </a:t>
            </a:r>
            <a:r>
              <a:rPr lang="en-IN" sz="2400" dirty="0" err="1">
                <a:latin typeface="Times New Roman" panose="02020603050405020304" pitchFamily="18" charset="0"/>
                <a:cs typeface="Times New Roman" panose="02020603050405020304" pitchFamily="18" charset="0"/>
              </a:rPr>
              <a:t>unlabeled</a:t>
            </a:r>
            <a:r>
              <a:rPr lang="en-IN" sz="2400" dirty="0">
                <a:latin typeface="Times New Roman" panose="02020603050405020304" pitchFamily="18" charset="0"/>
                <a:cs typeface="Times New Roman" panose="02020603050405020304" pitchFamily="18" charset="0"/>
              </a:rPr>
              <a:t> financial data</a:t>
            </a:r>
          </a:p>
          <a:p>
            <a:pPr marL="1028700" lvl="1" indent="-342900" algn="just">
              <a:lnSpc>
                <a:spcPct val="100000"/>
              </a:lnSpc>
            </a:pPr>
            <a:r>
              <a:rPr lang="en-IN" sz="2400" dirty="0">
                <a:latin typeface="Times New Roman" panose="02020603050405020304" pitchFamily="18" charset="0"/>
                <a:cs typeface="Times New Roman" panose="02020603050405020304" pitchFamily="18" charset="0"/>
              </a:rPr>
              <a:t>Suitable for real-time risk monitoring</a:t>
            </a:r>
          </a:p>
          <a:p>
            <a:pPr marL="1028700" lvl="1" indent="-342900" algn="just">
              <a:lnSpc>
                <a:spcPct val="100000"/>
              </a:lnSpc>
            </a:pPr>
            <a:r>
              <a:rPr lang="en-IN" sz="2400" dirty="0">
                <a:latin typeface="Times New Roman" panose="02020603050405020304" pitchFamily="18" charset="0"/>
                <a:cs typeface="Times New Roman" panose="02020603050405020304" pitchFamily="18" charset="0"/>
              </a:rPr>
              <a:t>Can be scaled with streaming frameworks</a:t>
            </a:r>
          </a:p>
          <a:p>
            <a:pPr algn="just">
              <a:lnSpc>
                <a:spcPct val="100000"/>
              </a:lnSpc>
              <a:spcBef>
                <a:spcPts val="600"/>
              </a:spcBef>
            </a:pPr>
            <a:endParaRPr lang="en-IN" dirty="0">
              <a:latin typeface="Times New Roman" panose="02020603050405020304" pitchFamily="18" charset="0"/>
              <a:cs typeface="Times New Roman" panose="02020603050405020304" pitchFamily="18" charset="0"/>
            </a:endParaRPr>
          </a:p>
          <a:p>
            <a:pPr algn="just">
              <a:lnSpc>
                <a:spcPct val="100000"/>
              </a:lnSpc>
              <a:spcBef>
                <a:spcPts val="600"/>
              </a:spcBef>
            </a:pPr>
            <a:endParaRPr lang="en-IN" dirty="0">
              <a:latin typeface="Times New Roman" panose="02020603050405020304" pitchFamily="18" charset="0"/>
              <a:cs typeface="Times New Roman" panose="02020603050405020304" pitchFamily="18" charset="0"/>
            </a:endParaRPr>
          </a:p>
          <a:p>
            <a:pPr algn="just">
              <a:lnSpc>
                <a:spcPct val="100000"/>
              </a:lnSpc>
              <a:spcBef>
                <a:spcPts val="600"/>
              </a:spcBef>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809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4985B-3768-CEF2-AABF-D08235BD0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5CD12-ED75-A015-1392-23340AFC5EE7}"/>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REFERENCES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F3137E18-B6D3-714B-2208-B79CAC2E9524}"/>
              </a:ext>
            </a:extLst>
          </p:cNvPr>
          <p:cNvSpPr>
            <a:spLocks noGrp="1"/>
          </p:cNvSpPr>
          <p:nvPr>
            <p:ph sz="quarter" idx="13"/>
          </p:nvPr>
        </p:nvSpPr>
        <p:spPr>
          <a:xfrm>
            <a:off x="919280" y="2593196"/>
            <a:ext cx="10353440" cy="4066396"/>
          </a:xfrm>
        </p:spPr>
        <p:txBody>
          <a:bodyPr>
            <a:noAutofit/>
          </a:bodyPr>
          <a:lstStyle/>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Dumitrescu, B., </a:t>
            </a:r>
            <a:r>
              <a:rPr lang="en-IN" sz="1600" dirty="0" err="1">
                <a:latin typeface="Times New Roman" panose="02020603050405020304" pitchFamily="18" charset="0"/>
                <a:cs typeface="Times New Roman" panose="02020603050405020304" pitchFamily="18" charset="0"/>
              </a:rPr>
              <a:t>Băltoiu</a:t>
            </a:r>
            <a:r>
              <a:rPr lang="en-IN" sz="1600" dirty="0">
                <a:latin typeface="Times New Roman" panose="02020603050405020304" pitchFamily="18" charset="0"/>
                <a:cs typeface="Times New Roman" panose="02020603050405020304" pitchFamily="18" charset="0"/>
              </a:rPr>
              <a:t>, A., &amp; </a:t>
            </a:r>
            <a:r>
              <a:rPr lang="en-IN" sz="1600" dirty="0" err="1">
                <a:latin typeface="Times New Roman" panose="02020603050405020304" pitchFamily="18" charset="0"/>
                <a:cs typeface="Times New Roman" panose="02020603050405020304" pitchFamily="18" charset="0"/>
              </a:rPr>
              <a:t>Budulan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Ş</a:t>
            </a:r>
            <a:r>
              <a:rPr lang="en-IN" sz="1600" dirty="0">
                <a:latin typeface="Times New Roman" panose="02020603050405020304" pitchFamily="18" charset="0"/>
                <a:cs typeface="Times New Roman" panose="02020603050405020304" pitchFamily="18" charset="0"/>
              </a:rPr>
              <a:t>. (2022). Anomaly detection in graphs of bank transactions for anti money laundering applications. IEEE Access, 10, 47699-47714.</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Daksa, R.  </a:t>
            </a:r>
            <a:r>
              <a:rPr lang="en-IN" sz="1600" dirty="0" err="1">
                <a:latin typeface="Times New Roman" panose="02020603050405020304" pitchFamily="18" charset="0"/>
                <a:cs typeface="Times New Roman" panose="02020603050405020304" pitchFamily="18" charset="0"/>
              </a:rPr>
              <a:t>Procediaala</a:t>
            </a:r>
            <a:r>
              <a:rPr lang="en-IN" sz="1600" dirty="0">
                <a:latin typeface="Times New Roman" panose="02020603050405020304" pitchFamily="18" charset="0"/>
                <a:cs typeface="Times New Roman" panose="02020603050405020304" pitchFamily="18" charset="0"/>
              </a:rPr>
              <a:t>, A. P. (2025). A Comparative Study On Real Time Data Streaming For Fraud Detection Using Kafka With Apache Flink And Apache Spark. Procedia Computer Science, 269, 192-199.</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Stahmann, P., Nebel, M., &amp; </a:t>
            </a:r>
            <a:r>
              <a:rPr lang="en-IN" sz="1600" dirty="0" err="1">
                <a:latin typeface="Times New Roman" panose="02020603050405020304" pitchFamily="18" charset="0"/>
                <a:cs typeface="Times New Roman" panose="02020603050405020304" pitchFamily="18" charset="0"/>
              </a:rPr>
              <a:t>Janiesch</a:t>
            </a:r>
            <a:r>
              <a:rPr lang="en-IN" sz="1600" dirty="0">
                <a:latin typeface="Times New Roman" panose="02020603050405020304" pitchFamily="18" charset="0"/>
                <a:cs typeface="Times New Roman" panose="02020603050405020304" pitchFamily="18" charset="0"/>
              </a:rPr>
              <a:t>, C. (2025). AI-based real-time anomaly detection in industrial engineering: A structured literature review, taxonomy, and research agenda. Computers &amp; Industrial Engineering, 111236.</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Mandlik, A. S., </a:t>
            </a:r>
            <a:r>
              <a:rPr lang="en-IN" sz="1600" dirty="0" err="1">
                <a:latin typeface="Times New Roman" panose="02020603050405020304" pitchFamily="18" charset="0"/>
                <a:cs typeface="Times New Roman" panose="02020603050405020304" pitchFamily="18" charset="0"/>
              </a:rPr>
              <a:t>Ganeshpure</a:t>
            </a:r>
            <a:r>
              <a:rPr lang="en-IN" sz="1600" dirty="0">
                <a:latin typeface="Times New Roman" panose="02020603050405020304" pitchFamily="18" charset="0"/>
                <a:cs typeface="Times New Roman" panose="02020603050405020304" pitchFamily="18" charset="0"/>
              </a:rPr>
              <a:t>, M. S., </a:t>
            </a:r>
            <a:r>
              <a:rPr lang="en-IN" sz="1600" dirty="0" err="1">
                <a:latin typeface="Times New Roman" panose="02020603050405020304" pitchFamily="18" charset="0"/>
                <a:cs typeface="Times New Roman" panose="02020603050405020304" pitchFamily="18" charset="0"/>
              </a:rPr>
              <a:t>Kadadas</a:t>
            </a:r>
            <a:r>
              <a:rPr lang="en-IN" sz="1600" dirty="0">
                <a:latin typeface="Times New Roman" panose="02020603050405020304" pitchFamily="18" charset="0"/>
                <a:cs typeface="Times New Roman" panose="02020603050405020304" pitchFamily="18" charset="0"/>
              </a:rPr>
              <a:t>, C. N., Korra, L., </a:t>
            </a:r>
            <a:r>
              <a:rPr lang="en-IN" sz="1600" dirty="0" err="1">
                <a:latin typeface="Times New Roman" panose="02020603050405020304" pitchFamily="18" charset="0"/>
                <a:cs typeface="Times New Roman" panose="02020603050405020304" pitchFamily="18" charset="0"/>
              </a:rPr>
              <a:t>Kidav</a:t>
            </a:r>
            <a:r>
              <a:rPr lang="en-IN" sz="1600" dirty="0">
                <a:latin typeface="Times New Roman" panose="02020603050405020304" pitchFamily="18" charset="0"/>
                <a:cs typeface="Times New Roman" panose="02020603050405020304" pitchFamily="18" charset="0"/>
              </a:rPr>
              <a:t>, J. U., &amp; </a:t>
            </a:r>
            <a:r>
              <a:rPr lang="en-IN" sz="1600" dirty="0" err="1">
                <a:latin typeface="Times New Roman" panose="02020603050405020304" pitchFamily="18" charset="0"/>
                <a:cs typeface="Times New Roman" panose="02020603050405020304" pitchFamily="18" charset="0"/>
              </a:rPr>
              <a:t>Lavadkar</a:t>
            </a:r>
            <a:r>
              <a:rPr lang="en-IN" sz="1600" dirty="0">
                <a:latin typeface="Times New Roman" panose="02020603050405020304" pitchFamily="18" charset="0"/>
                <a:cs typeface="Times New Roman" panose="02020603050405020304" pitchFamily="18" charset="0"/>
              </a:rPr>
              <a:t>, M. A. (2025, August). AI-Driven Real-Time Threat Detection for UPI Transactions. In 2025 International Conference on Applications of Machine Intelligence and Data Analytics (ICAMIDA) (pp. 1-3). IEEE.</a:t>
            </a:r>
          </a:p>
          <a:p>
            <a:pPr marL="285750" indent="-285750" algn="just">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Gadimov</a:t>
            </a:r>
            <a:r>
              <a:rPr lang="en-IN" sz="1600" dirty="0">
                <a:latin typeface="Times New Roman" panose="02020603050405020304" pitchFamily="18" charset="0"/>
                <a:cs typeface="Times New Roman" panose="02020603050405020304" pitchFamily="18" charset="0"/>
              </a:rPr>
              <a:t>, E., &amp; </a:t>
            </a:r>
            <a:r>
              <a:rPr lang="en-IN" sz="1600" dirty="0" err="1">
                <a:latin typeface="Times New Roman" panose="02020603050405020304" pitchFamily="18" charset="0"/>
                <a:cs typeface="Times New Roman" panose="02020603050405020304" pitchFamily="18" charset="0"/>
              </a:rPr>
              <a:t>Birihanu</a:t>
            </a:r>
            <a:r>
              <a:rPr lang="en-IN" sz="1600" dirty="0">
                <a:latin typeface="Times New Roman" panose="02020603050405020304" pitchFamily="18" charset="0"/>
                <a:cs typeface="Times New Roman" panose="02020603050405020304" pitchFamily="18" charset="0"/>
              </a:rPr>
              <a:t>, E. (2025). Real-time suspicious detection framework for financial data streams. International Journal of Information Technology, 1-17.</a:t>
            </a:r>
          </a:p>
        </p:txBody>
      </p:sp>
    </p:spTree>
    <p:extLst>
      <p:ext uri="{BB962C8B-B14F-4D97-AF65-F5344CB8AC3E}">
        <p14:creationId xmlns:p14="http://schemas.microsoft.com/office/powerpoint/2010/main" val="3998030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8F371-8DC0-95BF-F2F4-02CDEE91C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ABF08-80A6-F51D-CA0D-181EFB50A22C}"/>
              </a:ext>
            </a:extLst>
          </p:cNvPr>
          <p:cNvSpPr>
            <a:spLocks noGrp="1"/>
          </p:cNvSpPr>
          <p:nvPr>
            <p:ph type="title"/>
          </p:nvPr>
        </p:nvSpPr>
        <p:spPr/>
        <p:txBody>
          <a:bodyPr/>
          <a:lstStyle/>
          <a:p>
            <a:r>
              <a:rPr lang="en-US" sz="3500" dirty="0">
                <a:latin typeface="Times New Roman" panose="02020603050405020304" pitchFamily="18" charset="0"/>
                <a:cs typeface="Times New Roman" panose="02020603050405020304" pitchFamily="18" charset="0"/>
              </a:rPr>
              <a:t>REFERENCES</a:t>
            </a:r>
            <a:endParaRPr lang="en-IN" sz="3500" dirty="0">
              <a:latin typeface="Times New Roman" panose="02020603050405020304" pitchFamily="18"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7641EE19-FF5F-8FC5-3A24-410A380F3FDC}"/>
              </a:ext>
            </a:extLst>
          </p:cNvPr>
          <p:cNvSpPr>
            <a:spLocks noGrp="1"/>
          </p:cNvSpPr>
          <p:nvPr>
            <p:ph sz="quarter" idx="13"/>
          </p:nvPr>
        </p:nvSpPr>
        <p:spPr>
          <a:xfrm>
            <a:off x="975519" y="2475917"/>
            <a:ext cx="10240962" cy="3924883"/>
          </a:xfrm>
        </p:spPr>
        <p:txBody>
          <a:bodyPr>
            <a:noAutofit/>
          </a:bodyPr>
          <a:lstStyle/>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Wang, F., Jiang, Y., Zhang, R., Wei, A., Xie, J., &amp; Pang, X. (2025). A survey of deep anomaly detection in multivariate time series: taxonomy, applications, and directions. Sensors (Basel, Switzerland), 25(1), 190.</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Jain, R., &amp; </a:t>
            </a:r>
            <a:r>
              <a:rPr lang="en-IN" sz="1600" dirty="0" err="1">
                <a:latin typeface="Times New Roman" panose="02020603050405020304" pitchFamily="18" charset="0"/>
                <a:cs typeface="Times New Roman" panose="02020603050405020304" pitchFamily="18" charset="0"/>
              </a:rPr>
              <a:t>Deshwal</a:t>
            </a:r>
            <a:r>
              <a:rPr lang="en-IN" sz="1600" dirty="0">
                <a:latin typeface="Times New Roman" panose="02020603050405020304" pitchFamily="18" charset="0"/>
                <a:cs typeface="Times New Roman" panose="02020603050405020304" pitchFamily="18" charset="0"/>
              </a:rPr>
              <a:t>, S. ‘Anomaly detection in bank transactions using machine learning. Tech. Rep.</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 Y., Wu, N., Tang, D., &amp; Zhang, X. (2025, June). Research on Anomaly Detection Algorithm System for Financial Transaction Data Processing Based on Deep Learning. In 2025 IEEE 3rd International Conference on Image Processing and Computer Applications (ICIPCA) (pp. 1562-1566). IEEE.</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Rahmati, M. (2025). Real-Time Financial Fraud Detection Using Adaptive Graph Neural Networks and Federated Learning. Int. J. Management and Data Analytics, 5(1), 98-110.</a:t>
            </a:r>
          </a:p>
          <a:p>
            <a:pPr marL="285750" indent="-285750" algn="just">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Acharjee</a:t>
            </a:r>
            <a:r>
              <a:rPr lang="en-IN" sz="1600" dirty="0">
                <a:latin typeface="Times New Roman" panose="02020603050405020304" pitchFamily="18" charset="0"/>
                <a:cs typeface="Times New Roman" panose="02020603050405020304" pitchFamily="18" charset="0"/>
              </a:rPr>
              <a:t>, S., Bhattacharjee, P., Mondal, S., Goswami, S., Sadhukhan, S., Mukherjee, A., &amp; Das, A. (2025, July). Streaming-Based Anomaly Detection for Real-Time Scalable Credit Card Fraud Prevention: A Comparative Study. In 2025 International Conference on Engineering Innovations and Technologies (</a:t>
            </a:r>
            <a:r>
              <a:rPr lang="en-IN" sz="1600" dirty="0" err="1">
                <a:latin typeface="Times New Roman" panose="02020603050405020304" pitchFamily="18" charset="0"/>
                <a:cs typeface="Times New Roman" panose="02020603050405020304" pitchFamily="18" charset="0"/>
              </a:rPr>
              <a:t>ICoEIT</a:t>
            </a:r>
            <a:r>
              <a:rPr lang="en-IN" sz="1600" dirty="0">
                <a:latin typeface="Times New Roman" panose="02020603050405020304" pitchFamily="18" charset="0"/>
                <a:cs typeface="Times New Roman" panose="02020603050405020304" pitchFamily="18" charset="0"/>
              </a:rPr>
              <a:t>) (pp. 736-740). IEEE.</a:t>
            </a:r>
          </a:p>
        </p:txBody>
      </p:sp>
    </p:spTree>
    <p:extLst>
      <p:ext uri="{BB962C8B-B14F-4D97-AF65-F5344CB8AC3E}">
        <p14:creationId xmlns:p14="http://schemas.microsoft.com/office/powerpoint/2010/main" val="1449498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3075</TotalTime>
  <Words>1247</Words>
  <Application>Microsoft Macintosh PowerPoint</Application>
  <PresentationFormat>Widescreen</PresentationFormat>
  <Paragraphs>114</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Cambria Math</vt:lpstr>
      <vt:lpstr>Franklin Gothic Book</vt:lpstr>
      <vt:lpstr>Franklin Gothic Demi</vt:lpstr>
      <vt:lpstr>Times New Roman</vt:lpstr>
      <vt:lpstr>Custom</vt:lpstr>
      <vt:lpstr>          REAL-TIME FINANCIAL ANOMALY DETECTION USING MACHINE LEARNING AND STREAMING ANALYTICS           Srudhan Eerla        24MCB1002</vt:lpstr>
      <vt:lpstr>INTRODUCTION</vt:lpstr>
      <vt:lpstr>PROBLEM STATEMENT</vt:lpstr>
      <vt:lpstr>RESEARCH OBJECTIVES</vt:lpstr>
      <vt:lpstr>PROPOSED SYSTEM</vt:lpstr>
      <vt:lpstr>PROPOSED SYSTEM DIAGRAM</vt:lpstr>
      <vt:lpstr>MODULES</vt:lpstr>
      <vt:lpstr>MODULES</vt:lpstr>
      <vt:lpstr>MODULES</vt:lpstr>
      <vt:lpstr>MODULES</vt:lpstr>
      <vt:lpstr>MODULES</vt:lpstr>
      <vt:lpstr>RESULTS</vt:lpstr>
      <vt:lpstr>RESULTS</vt:lpstr>
      <vt:lpstr>RESULTS &amp; FINDINGS</vt:lpstr>
      <vt:lpstr>INTERPRETATION &amp; DISCUSSION</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srujan k</dc:creator>
  <cp:lastModifiedBy>Srudhan Eerla</cp:lastModifiedBy>
  <cp:revision>11</cp:revision>
  <dcterms:created xsi:type="dcterms:W3CDTF">2024-11-12T04:32:09Z</dcterms:created>
  <dcterms:modified xsi:type="dcterms:W3CDTF">2026-02-24T07:23:56Z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